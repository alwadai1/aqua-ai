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83E67"/>
                </a:solidFill>
                <a:latin typeface="Arial"/>
              </a:defRPr>
            </a:pPr>
            <a:r>
              <a:t>Aqua AI</a:t>
            </a:r>
          </a:p>
          <a:p>
            <a:pPr algn="ctr">
              <a:defRPr sz="2000" b="1">
                <a:solidFill>
                  <a:srgbClr val="192834"/>
                </a:solidFill>
                <a:latin typeface="Arial"/>
              </a:defRPr>
            </a:pPr>
            <a:r>
              <a:t>Autonomous Solar-Powered Edge-IoT Water Leakage Detection and Predictive Conservation System</a:t>
            </a:r>
          </a:p>
        </p:txBody>
      </p:sp>
      <p:sp>
        <p:nvSpPr>
          <p:cNvPr id="5" name="Oval 4"/>
          <p:cNvSpPr/>
          <p:nvPr/>
        </p:nvSpPr>
        <p:spPr>
          <a:xfrm>
            <a:off x="5303520" y="2743200"/>
            <a:ext cx="1554480" cy="1554480"/>
          </a:xfrm>
          <a:prstGeom prst="ellipse">
            <a:avLst/>
          </a:prstGeom>
          <a:solidFill>
            <a:srgbClr val="12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200"/>
            </a:pPr>
            <a:r>
              <a:t>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572000"/>
            <a:ext cx="3108960" cy="1005840"/>
          </a:xfrm>
          <a:prstGeom prst="roundRect">
            <a:avLst/>
          </a:prstGeom>
          <a:solidFill>
            <a:srgbClr val="EBF6FC"/>
          </a:solidFill>
          <a:ln>
            <a:solidFill>
              <a:srgbClr val="22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68"/>
                </a:solidFill>
                <a:latin typeface="Arial"/>
              </a:defRPr>
            </a:pPr>
            <a:r>
              <a:t>Supervisor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Abdullah Al-Wad‘i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4572000"/>
            <a:ext cx="6309360" cy="100584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Team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Hussein Mohammed Saeed Al-Qahtani • Wisam Mohammed Saeed Al-Qahtani • Abdullah Mohammed Saeed Al-Qahtani • Mohammed Jaber Qatman Al-Qahtani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Non-Revenue Water (NRW) and treated-water losses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2100">
                <a:solidFill>
                  <a:srgbClr val="192834"/>
                </a:solidFill>
                <a:latin typeface="Arial"/>
              </a:defRPr>
            </a:pPr>
            <a:r>
              <a:t>Water losses can occur because of leaks, pressure imbalance, pipe failures, or delayed detection.</a:t>
            </a:r>
          </a:p>
          <a:p>
            <a:pPr algn="r">
              <a:spcAft>
                <a:spcPts val="1100"/>
              </a:spcAft>
              <a:defRPr sz="2100">
                <a:solidFill>
                  <a:srgbClr val="192834"/>
                </a:solidFill>
                <a:latin typeface="Arial"/>
              </a:defRPr>
            </a:pPr>
            <a:r>
              <a:t>Traditional monitoring may not provide an immediate local warning at the point of loss.</a:t>
            </a:r>
          </a:p>
          <a:p>
            <a:pPr algn="r">
              <a:spcAft>
                <a:spcPts val="1100"/>
              </a:spcAft>
              <a:defRPr sz="2100">
                <a:solidFill>
                  <a:srgbClr val="192834"/>
                </a:solidFill>
                <a:latin typeface="Arial"/>
              </a:defRPr>
            </a:pPr>
            <a:r>
              <a:t>Pumping and treatment consume energy; reducing unnecessary flow can support more efficient operation.</a:t>
            </a:r>
          </a:p>
          <a:p>
            <a:pPr algn="r">
              <a:spcAft>
                <a:spcPts val="1100"/>
              </a:spcAft>
              <a:defRPr sz="2100">
                <a:solidFill>
                  <a:srgbClr val="192834"/>
                </a:solidFill>
                <a:latin typeface="Arial"/>
              </a:defRPr>
            </a:pPr>
            <a:r>
              <a:t>Aqua AI targets early detection, local decision-making, and automatic response using connected sensors.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2.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Aqua AI: smart early warning and solar-powered automatic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383280" cy="182880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Sensing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Two water-flow sensors monitor inlet/outlet flow and provide data to the ESP32.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EBF6FC"/>
          </a:solidFill>
          <a:ln>
            <a:solidFill>
              <a:srgbClr val="22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68"/>
                </a:solidFill>
                <a:latin typeface="Arial"/>
              </a:defRPr>
            </a:pPr>
            <a:r>
              <a:t>Edge Processing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ESP32 compares measured flow values and calculates a leakage indicator.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383280" cy="1828800"/>
          </a:xfrm>
          <a:prstGeom prst="roundRect">
            <a:avLst/>
          </a:prstGeom>
          <a:solidFill>
            <a:srgbClr val="EBF6FC"/>
          </a:solidFill>
          <a:ln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CD4343"/>
                </a:solidFill>
                <a:latin typeface="Arial"/>
              </a:defRPr>
            </a:pPr>
            <a:r>
              <a:t>Action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A relay controls the 12V DC pump; the system can warn the operator when risk 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1800">
                <a:solidFill>
                  <a:srgbClr val="192834"/>
                </a:solidFill>
                <a:latin typeface="Arial"/>
              </a:defRPr>
            </a:pPr>
            <a:r>
              <a:t>Power: solar panel → charge controller → 12V rechargeable battery.</a:t>
            </a:r>
          </a:p>
          <a:p>
            <a:pPr algn="r">
              <a:spcAft>
                <a:spcPts val="1100"/>
              </a:spcAft>
              <a:defRPr sz="1800">
                <a:solidFill>
                  <a:srgbClr val="192834"/>
                </a:solidFill>
                <a:latin typeface="Arial"/>
              </a:defRPr>
            </a:pPr>
            <a:r>
              <a:t>Control: ESP32 → relay → 12V pump.</a:t>
            </a:r>
          </a:p>
          <a:p>
            <a:pPr algn="r">
              <a:spcAft>
                <a:spcPts val="1100"/>
              </a:spcAft>
              <a:defRPr sz="1800">
                <a:solidFill>
                  <a:srgbClr val="192834"/>
                </a:solidFill>
                <a:latin typeface="Arial"/>
              </a:defRPr>
            </a:pPr>
            <a:r>
              <a:t>Programming/monitoring: Arduino IDE and USB Type-C connection to the ESP32.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3. Technical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ESP32, flow sensing, pressure monitoring, and mass-balance logic</a:t>
            </a:r>
          </a:p>
        </p:txBody>
      </p:sp>
      <p:sp>
        <p:nvSpPr>
          <p:cNvPr id="5" name="Oval 4"/>
          <p:cNvSpPr/>
          <p:nvPr/>
        </p:nvSpPr>
        <p:spPr>
          <a:xfrm>
            <a:off x="1307592" y="1417320"/>
            <a:ext cx="731520" cy="731520"/>
          </a:xfrm>
          <a:prstGeom prst="ellipse">
            <a:avLst/>
          </a:prstGeom>
          <a:solidFill>
            <a:srgbClr val="12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2148840" cy="201168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Measure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Flow sensor 1 measures incoming flow.</a:t>
            </a:r>
          </a:p>
        </p:txBody>
      </p:sp>
      <p:sp>
        <p:nvSpPr>
          <p:cNvPr id="7" name="Oval 6"/>
          <p:cNvSpPr/>
          <p:nvPr/>
        </p:nvSpPr>
        <p:spPr>
          <a:xfrm>
            <a:off x="3593591" y="1417320"/>
            <a:ext cx="731520" cy="731520"/>
          </a:xfrm>
          <a:prstGeom prst="ellipse">
            <a:avLst/>
          </a:prstGeom>
          <a:solidFill>
            <a:srgbClr val="12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240280"/>
            <a:ext cx="2148840" cy="201168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Measure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Flow sensor 2 measures downstream flow.</a:t>
            </a:r>
          </a:p>
        </p:txBody>
      </p:sp>
      <p:sp>
        <p:nvSpPr>
          <p:cNvPr id="9" name="Oval 8"/>
          <p:cNvSpPr/>
          <p:nvPr/>
        </p:nvSpPr>
        <p:spPr>
          <a:xfrm>
            <a:off x="5879592" y="1417320"/>
            <a:ext cx="731520" cy="731520"/>
          </a:xfrm>
          <a:prstGeom prst="ellipse">
            <a:avLst/>
          </a:prstGeom>
          <a:solidFill>
            <a:srgbClr val="12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240280"/>
            <a:ext cx="2148840" cy="201168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Compare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ESP32 compares the two measurements over a time window.</a:t>
            </a:r>
          </a:p>
        </p:txBody>
      </p:sp>
      <p:sp>
        <p:nvSpPr>
          <p:cNvPr id="11" name="Oval 10"/>
          <p:cNvSpPr/>
          <p:nvPr/>
        </p:nvSpPr>
        <p:spPr>
          <a:xfrm>
            <a:off x="8165592" y="1417320"/>
            <a:ext cx="731520" cy="731520"/>
          </a:xfrm>
          <a:prstGeom prst="ellipse">
            <a:avLst/>
          </a:prstGeom>
          <a:solidFill>
            <a:srgbClr val="12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240280"/>
            <a:ext cx="2148840" cy="2011680"/>
          </a:xfrm>
          <a:prstGeom prst="roundRect">
            <a:avLst/>
          </a:prstGeom>
          <a:solidFill>
            <a:srgbClr val="EBF6FC"/>
          </a:solidFill>
          <a:ln>
            <a:solidFill>
              <a:srgbClr val="22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68"/>
                </a:solidFill>
                <a:latin typeface="Arial"/>
              </a:defRPr>
            </a:pPr>
            <a:r>
              <a:t>Estimate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A leakage percentage/risk indicator is calculated.</a:t>
            </a:r>
          </a:p>
        </p:txBody>
      </p:sp>
      <p:sp>
        <p:nvSpPr>
          <p:cNvPr id="13" name="Oval 12"/>
          <p:cNvSpPr/>
          <p:nvPr/>
        </p:nvSpPr>
        <p:spPr>
          <a:xfrm>
            <a:off x="10451592" y="1417320"/>
            <a:ext cx="731520" cy="731520"/>
          </a:xfrm>
          <a:prstGeom prst="ellipse">
            <a:avLst/>
          </a:prstGeom>
          <a:solidFill>
            <a:srgbClr val="12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2240280"/>
            <a:ext cx="2148840" cy="2011680"/>
          </a:xfrm>
          <a:prstGeom prst="roundRect">
            <a:avLst/>
          </a:prstGeom>
          <a:solidFill>
            <a:srgbClr val="EBF6FC"/>
          </a:solidFill>
          <a:ln>
            <a:solidFill>
              <a:srgbClr val="22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68"/>
                </a:solidFill>
                <a:latin typeface="Arial"/>
              </a:defRPr>
            </a:pPr>
            <a:r>
              <a:t>Respond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Green / Yellow / Red status can be shown in the serial monitor; the relay can control the pump.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1600">
                <a:solidFill>
                  <a:srgbClr val="192834"/>
                </a:solidFill>
                <a:latin typeface="Arial"/>
              </a:defRPr>
            </a:pPr>
            <a:r>
              <a:t>Mass-balance concept: leakage is indicated when measured inlet and outlet flow are inconsistent beyond an allowed tolerance.</a:t>
            </a:r>
          </a:p>
          <a:p>
            <a:pPr algn="r">
              <a:spcAft>
                <a:spcPts val="1100"/>
              </a:spcAft>
              <a:defRPr sz="1600">
                <a:solidFill>
                  <a:srgbClr val="192834"/>
                </a:solidFill>
                <a:latin typeface="Arial"/>
              </a:defRPr>
            </a:pPr>
            <a:r>
              <a:t>Pressure sensing can be added as an expansion to improve diagnosis and distinguish normal demand from leakage.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4. 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Target outcomes — to be validated by field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920240"/>
          </a:xfrm>
          <a:prstGeom prst="roundRect">
            <a:avLst/>
          </a:prstGeom>
          <a:solidFill>
            <a:srgbClr val="EBF6FC"/>
          </a:solidFill>
          <a:ln>
            <a:solidFill>
              <a:srgbClr val="22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68"/>
                </a:solidFill>
                <a:latin typeface="Arial"/>
              </a:defRPr>
            </a:pPr>
            <a:r>
              <a:t>Leakage reduction target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Up to 90% reduction is a project target, not a measured result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192024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Energy efficiency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Avoid unnecessary pump operation and support more efficient water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474720" cy="1920240"/>
          </a:xfrm>
          <a:prstGeom prst="roundRect">
            <a:avLst/>
          </a:prstGeom>
          <a:solidFill>
            <a:srgbClr val="EBF6FC"/>
          </a:solidFill>
          <a:ln>
            <a:solidFill>
              <a:srgbClr val="F5B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5B937"/>
                </a:solidFill>
                <a:latin typeface="Arial"/>
              </a:defRPr>
            </a:pPr>
            <a:r>
              <a:t>Response time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Local sensing can provide an earlier warning than waiting for manual inspection.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1800">
                <a:solidFill>
                  <a:srgbClr val="192834"/>
                </a:solidFill>
                <a:latin typeface="Arial"/>
              </a:defRPr>
            </a:pPr>
            <a:r>
              <a:t>The final percentage should be reported only after controlled testing and comparison with a baseline.</a:t>
            </a:r>
          </a:p>
          <a:p>
            <a:pPr algn="r">
              <a:spcAft>
                <a:spcPts val="1100"/>
              </a:spcAft>
              <a:defRPr sz="1800">
                <a:solidFill>
                  <a:srgbClr val="192834"/>
                </a:solidFill>
                <a:latin typeface="Arial"/>
              </a:defRPr>
            </a:pPr>
            <a:r>
              <a:t>Performance metrics: detection accuracy, false alarms, response time, pump runtime, and estimated water saved.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5. Full System Schematic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Project components and main connections</a:t>
            </a:r>
          </a:p>
        </p:txBody>
      </p:sp>
      <p:pic>
        <p:nvPicPr>
          <p:cNvPr id="5" name="Picture 4" descr="1000008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49" y="1051560"/>
            <a:ext cx="5952196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6. Main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Based on the supplied project schematic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1. ESP32 controller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2. USB Type-C cable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3. Arduino IDE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4. 5V relay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5. Breadboard / mounting board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6. Jumper wires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7. 12V DC water pump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8. Water tank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9. Flow sensor 1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10. Flow sensor 2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11. G1/2 water pipe + fittings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13. Water faucet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14. Pipe clamps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15. Solar panel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16. Solar charge controller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17. 12V rechargeable battery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18. 12V→5V buck converter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19. Fuse + fuse holder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20. Power wires + terminals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21. AI processing unit (already sourced)</a:t>
            </a:r>
          </a:p>
          <a:p>
            <a:pPr algn="r">
              <a:spcAft>
                <a:spcPts val="1100"/>
              </a:spcAft>
              <a:defRPr sz="1400">
                <a:solidFill>
                  <a:srgbClr val="192834"/>
                </a:solidFill>
                <a:latin typeface="Arial"/>
              </a:defRPr>
            </a:pPr>
            <a:r>
              <a:t>22. Laptop for programming/monitoring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7. Bill of Materials (BOM)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Budget sheet — target total: 800 SAR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8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Items</a:t>
                      </a:r>
                    </a:p>
                  </a:txBody>
                  <a:tcPr>
                    <a:solidFill>
                      <a:srgbClr val="08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8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allowance (SAR)</a:t>
                      </a:r>
                    </a:p>
                  </a:txBody>
                  <a:tcPr>
                    <a:solidFill>
                      <a:srgbClr val="083E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ESP32 + USB Type-C + breadboard + jumper wires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 set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Sensing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2 flow sensors + optional pressure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Hydraulics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Tank + G1/2 pipe + fittings + faucet + clamps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 set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Pump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12V DC water pump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Solar panel + charge controller + 12V battery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 set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5V relay + buck converter + fuse/holder + terminals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Computing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AI processing unit already sourced + laptop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1 set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B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Target project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92834"/>
                          </a:solidFill>
                          <a:latin typeface="Arial"/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1200">
                <a:solidFill>
                  <a:srgbClr val="192834"/>
                </a:solidFill>
                <a:latin typeface="Arial"/>
              </a:defRPr>
            </a:pPr>
            <a:r>
              <a:t>Note: the 800 SAR figure is a target budget allowance; actual prices should be updated from supplier quotations before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8. Electrical Connections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Low-voltage architecture shown in the supplied schematic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1645920"/>
          </a:xfrm>
          <a:prstGeom prst="roundRect">
            <a:avLst/>
          </a:prstGeom>
          <a:solidFill>
            <a:srgbClr val="EBF6FC"/>
          </a:solidFill>
          <a:ln>
            <a:solidFill>
              <a:srgbClr val="22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68"/>
                </a:solidFill>
                <a:latin typeface="Arial"/>
              </a:defRPr>
            </a:pPr>
            <a:r>
              <a:t>Solar path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Solar panel → charge controller → 12V battery.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80160"/>
            <a:ext cx="3474720" cy="164592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Logic power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12V battery → 5V buck converter → ESP32 / 5V relay.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280160"/>
            <a:ext cx="3474720" cy="1645920"/>
          </a:xfrm>
          <a:prstGeom prst="roundRect">
            <a:avLst/>
          </a:prstGeom>
          <a:solidFill>
            <a:srgbClr val="EBF6FC"/>
          </a:solidFill>
          <a:ln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CD4343"/>
                </a:solidFill>
                <a:latin typeface="Arial"/>
              </a:defRPr>
            </a:pPr>
            <a:r>
              <a:t>Pump path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12V battery → fuse → relay contacts → 12V DC pump.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1700">
                <a:solidFill>
                  <a:srgbClr val="192834"/>
                </a:solidFill>
                <a:latin typeface="Arial"/>
              </a:defRPr>
            </a:pPr>
            <a:r>
              <a:t>USB Type-C on the ESP32 is for programming/serial monitoring; it is not the 12V pump supply.</a:t>
            </a:r>
          </a:p>
          <a:p>
            <a:pPr algn="r">
              <a:spcAft>
                <a:spcPts val="1100"/>
              </a:spcAft>
              <a:defRPr sz="1700">
                <a:solidFill>
                  <a:srgbClr val="192834"/>
                </a:solidFill>
                <a:latin typeface="Arial"/>
              </a:defRPr>
            </a:pPr>
            <a:r>
              <a:t>Use a fuse on the pump power branch and verify the pump's rated current before selecting the fuse.</a:t>
            </a:r>
          </a:p>
          <a:p>
            <a:pPr algn="r">
              <a:spcAft>
                <a:spcPts val="1100"/>
              </a:spcAft>
              <a:defRPr sz="1700">
                <a:solidFill>
                  <a:srgbClr val="192834"/>
                </a:solidFill>
                <a:latin typeface="Arial"/>
              </a:defRPr>
            </a:pPr>
            <a:r>
              <a:t>Keep sensor signal wiring separate from high-current pump wiring where practical.</a:t>
            </a:r>
          </a:p>
          <a:p>
            <a:pPr algn="r">
              <a:spcAft>
                <a:spcPts val="1100"/>
              </a:spcAft>
              <a:defRPr sz="1700">
                <a:solidFill>
                  <a:srgbClr val="192834"/>
                </a:solidFill>
                <a:latin typeface="Arial"/>
              </a:defRPr>
            </a:pPr>
            <a:r>
              <a:t>Confirm polarity and common ground according to the exact modules used.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9. Monitoring &amp; AI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What the operator can see and what the AI layer can analyze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192024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Serial Monitor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Flow 1, Flow 2, leakage %, status, pump state, and sensor readings.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1920240"/>
          </a:xfrm>
          <a:prstGeom prst="roundRect">
            <a:avLst/>
          </a:prstGeom>
          <a:solidFill>
            <a:srgbClr val="EBF6FC"/>
          </a:solidFill>
          <a:ln>
            <a:solidFill>
              <a:srgbClr val="22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68"/>
                </a:solidFill>
                <a:latin typeface="Arial"/>
              </a:defRPr>
            </a:pPr>
            <a:r>
              <a:t>Status logic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GREEN = normal</a:t>
            </a:r>
            <a:br/>
            <a:r>
              <a:t>YELLOW = possible leakage</a:t>
            </a:r>
            <a:br/>
            <a:r>
              <a:t>RED = high-risk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25880"/>
            <a:ext cx="3474720" cy="1920240"/>
          </a:xfrm>
          <a:prstGeom prst="roundRect">
            <a:avLst/>
          </a:prstGeom>
          <a:solidFill>
            <a:srgbClr val="EBF6FC"/>
          </a:solidFill>
          <a:ln>
            <a:solidFill>
              <a:srgbClr val="F5B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5B937"/>
                </a:solidFill>
                <a:latin typeface="Arial"/>
              </a:defRPr>
            </a:pPr>
            <a:r>
              <a:t>AI layer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Analyze historical readings to identify patterns and support predictive conservation.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1800">
                <a:solidFill>
                  <a:srgbClr val="192834"/>
                </a:solidFill>
                <a:latin typeface="Arial"/>
              </a:defRPr>
            </a:pPr>
            <a:r>
              <a:t>Example output: Leakage probability 0–100%.</a:t>
            </a:r>
          </a:p>
          <a:p>
            <a:pPr algn="r">
              <a:spcAft>
                <a:spcPts val="1100"/>
              </a:spcAft>
              <a:defRPr sz="1800">
                <a:solidFill>
                  <a:srgbClr val="192834"/>
                </a:solidFill>
                <a:latin typeface="Arial"/>
              </a:defRPr>
            </a:pPr>
            <a:r>
              <a:t>The thresholds should be calibrated using real test data to avoid excessive false alarms.</a:t>
            </a:r>
          </a:p>
          <a:p>
            <a:pPr algn="r">
              <a:spcAft>
                <a:spcPts val="1100"/>
              </a:spcAft>
              <a:defRPr sz="1800">
                <a:solidFill>
                  <a:srgbClr val="192834"/>
                </a:solidFill>
                <a:latin typeface="Arial"/>
              </a:defRPr>
            </a:pPr>
            <a:r>
              <a:t>AI predictions should complement, not replace, direct sensor measurements and safety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10. Team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Four trainees + supervisor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94960" cy="228600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Team members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Hussein Mohammed Saeed Al-Qahtani</a:t>
            </a:r>
            <a:br/>
            <a:r>
              <a:t>Wisam Mohammed Saeed Al-Qahtani</a:t>
            </a:r>
            <a:br/>
            <a:r>
              <a:t>Abdullah Mohammed Saeed Al-Qahtani</a:t>
            </a:r>
            <a:br/>
            <a:r>
              <a:t>Mohammed Jaber Qatman Al-Qahtani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94960" cy="2286000"/>
          </a:xfrm>
          <a:prstGeom prst="roundRect">
            <a:avLst/>
          </a:prstGeom>
          <a:solidFill>
            <a:srgbClr val="EBF6FC"/>
          </a:solidFill>
          <a:ln>
            <a:solidFill>
              <a:srgbClr val="22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68"/>
                </a:solidFill>
                <a:latin typeface="Arial"/>
              </a:defRPr>
            </a:pPr>
            <a:r>
              <a:t>Supervisor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Abdullah Al-Wad‘i</a:t>
            </a:r>
            <a:br/>
            <a:br/>
            <a:r>
              <a:t>Project guidance, validation, and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698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1500">
                <a:solidFill>
                  <a:srgbClr val="192834"/>
                </a:solidFill>
                <a:latin typeface="Arial"/>
              </a:defRPr>
            </a:pPr>
            <a:r>
              <a:t>1. Component selection &amp; procurement</a:t>
            </a:r>
          </a:p>
          <a:p>
            <a:pPr algn="r">
              <a:spcAft>
                <a:spcPts val="1100"/>
              </a:spcAft>
              <a:defRPr sz="1500">
                <a:solidFill>
                  <a:srgbClr val="192834"/>
                </a:solidFill>
                <a:latin typeface="Arial"/>
              </a:defRPr>
            </a:pPr>
            <a:r>
              <a:t>2. Hydraulic assembly and leak-test setup</a:t>
            </a:r>
          </a:p>
          <a:p>
            <a:pPr algn="r">
              <a:spcAft>
                <a:spcPts val="1100"/>
              </a:spcAft>
              <a:defRPr sz="1500">
                <a:solidFill>
                  <a:srgbClr val="192834"/>
                </a:solidFill>
                <a:latin typeface="Arial"/>
              </a:defRPr>
            </a:pPr>
            <a:r>
              <a:t>3. ESP32 programming and sensor calibration</a:t>
            </a:r>
          </a:p>
          <a:p>
            <a:pPr algn="r">
              <a:spcAft>
                <a:spcPts val="1100"/>
              </a:spcAft>
              <a:defRPr sz="1500">
                <a:solidFill>
                  <a:srgbClr val="192834"/>
                </a:solidFill>
                <a:latin typeface="Arial"/>
              </a:defRPr>
            </a:pPr>
            <a:r>
              <a:t>4. Relay/pump control and safety testing</a:t>
            </a:r>
          </a:p>
          <a:p>
            <a:pPr algn="r">
              <a:spcAft>
                <a:spcPts val="1100"/>
              </a:spcAft>
              <a:defRPr sz="1500">
                <a:solidFill>
                  <a:srgbClr val="192834"/>
                </a:solidFill>
                <a:latin typeface="Arial"/>
              </a:defRPr>
            </a:pPr>
            <a:r>
              <a:t>5. AI data analysis and threshold calibration</a:t>
            </a:r>
          </a:p>
          <a:p>
            <a:pPr algn="r">
              <a:spcAft>
                <a:spcPts val="1100"/>
              </a:spcAft>
              <a:defRPr sz="1500">
                <a:solidFill>
                  <a:srgbClr val="192834"/>
                </a:solidFill>
                <a:latin typeface="Arial"/>
              </a:defRPr>
            </a:pPr>
            <a:r>
              <a:t>6. Field testing → results → future upgrades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11. 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Roadmap beyond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Upgrade to ultrasonic / non-invasive flow measurement where suitable.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Add calibrated pressure sensors to improve leak localization and diagnosis.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Use IP67-rated enclosures and water-resistant connectors for outdoor deployment.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Add remote dashboard / IoT connectivity for alerts and historical trends.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Train the AI model on larger real-world datasets to improve predictive conservation.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Scale from a single prototype to multiple monitoring nodes across a water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08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12. Optional Supporting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73"/>
                </a:solidFill>
                <a:latin typeface="Arial"/>
              </a:defRPr>
            </a:pPr>
            <a:r>
              <a:t>Ready-to-attach evidence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BOM Sheet with the target 800 SAR budget.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Electrical circuit schematic and hydraulic layout.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Photos of the assembled prototype and test setup.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Initial test logs: flow readings, leakage scenarios, response time, and pump runtime.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Calibration notes for flow / pressure sensors.</a:t>
            </a:r>
          </a:p>
          <a:p>
            <a:pPr algn="r">
              <a:spcAft>
                <a:spcPts val="1100"/>
              </a:spcAft>
              <a:defRPr sz="2000">
                <a:solidFill>
                  <a:srgbClr val="192834"/>
                </a:solidFill>
                <a:latin typeface="Arial"/>
              </a:defRPr>
            </a:pPr>
            <a:r>
              <a:t>Institutional evaluation, preliminary report, or approval certificate if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3E67"/>
                </a:solidFill>
                <a:latin typeface="Arial"/>
              </a:defRPr>
            </a:pPr>
            <a:r>
              <a:t>Aqua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8B68"/>
                </a:solidFill>
                <a:latin typeface="Arial"/>
              </a:defRPr>
            </a:pPr>
            <a:r>
              <a:t>Detect early • Respond automatically • Conserve water</a:t>
            </a:r>
          </a:p>
          <a:p>
            <a:pPr algn="ctr">
              <a:defRPr sz="2000">
                <a:solidFill>
                  <a:srgbClr val="192834"/>
                </a:solidFill>
                <a:latin typeface="Arial"/>
              </a:defRPr>
            </a:pPr>
            <a:r>
              <a:t>Solar-powered Edge-IoT monitoring with AI-assisted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663440"/>
            <a:ext cx="8503920" cy="914400"/>
          </a:xfrm>
          <a:prstGeom prst="roundRect">
            <a:avLst/>
          </a:prstGeom>
          <a:solidFill>
            <a:srgbClr val="EBF6FC"/>
          </a:solidFill>
          <a:ln>
            <a:solidFill>
              <a:srgbClr val="12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270AE"/>
                </a:solidFill>
                <a:latin typeface="Arial"/>
              </a:defRPr>
            </a:pPr>
            <a:r>
              <a:t>Project status</a:t>
            </a:r>
          </a:p>
          <a:p>
            <a:pPr algn="r">
              <a:defRPr sz="1300">
                <a:solidFill>
                  <a:srgbClr val="192834"/>
                </a:solidFill>
                <a:latin typeface="Arial"/>
              </a:defRPr>
            </a:pPr>
            <a:r>
              <a:t>Prototype design and target architecture — final performance requires practical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rial"/>
              </a:defRPr>
            </a:pPr>
            <a:r>
              <a:t>Aqua AI  |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شاشة عريضة</PresentationFormat>
  <Paragraphs>0</Paragraphs>
  <Slides>14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5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/>
  <cp:keywords/>
  <dc:description>generated using python-pptx</dc:description>
  <cp:lastModifiedBy>حسين القحطاني</cp:lastModifiedBy>
  <cp:revision>2</cp:revision>
  <dcterms:created xsi:type="dcterms:W3CDTF">2013-01-27T09:14:16Z</dcterms:created>
  <dcterms:modified xsi:type="dcterms:W3CDTF">2026-09-30T12:08:22Z</dcterms:modified>
  <cp:category/>
</cp:coreProperties>
</file>